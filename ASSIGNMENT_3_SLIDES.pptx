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8288000" cy="10287000"/>
  <p:notesSz cx="6858000" cy="9144000"/>
  <p:embeddedFontLst>
    <p:embeddedFont>
      <p:font typeface="Alice Bold" panose="020B0604020202020204" charset="0"/>
      <p:regular r:id="rId7"/>
    </p:embeddedFont>
    <p:embeddedFont>
      <p:font typeface="Anton" pitchFamily="2" charset="0"/>
      <p:regular r:id="rId8"/>
    </p:embeddedFont>
    <p:embeddedFont>
      <p:font typeface="Archivo Black" panose="020B0604020202020204" charset="0"/>
      <p:regular r:id="rId9"/>
    </p:embeddedFont>
    <p:embeddedFont>
      <p:font typeface="Canva Sans" panose="020B0604020202020204" charset="0"/>
      <p:regular r:id="rId10"/>
    </p:embeddedFont>
    <p:embeddedFont>
      <p:font typeface="Canva Sans Bold" panose="020B0604020202020204" charset="0"/>
      <p:regular r:id="rId11"/>
    </p:embeddedFont>
    <p:embeddedFont>
      <p:font typeface="Glacial Indifference" panose="020B0604020202020204" charset="0"/>
      <p:regular r:id="rId12"/>
    </p:embeddedFont>
    <p:embeddedFont>
      <p:font typeface="Glacial Indifference Bold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8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1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1888" b="-11888"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0" y="9258300"/>
            <a:ext cx="18288000" cy="1293091"/>
          </a:xfrm>
          <a:custGeom>
            <a:avLst/>
            <a:gdLst/>
            <a:ahLst/>
            <a:cxnLst/>
            <a:rect l="l" t="t" r="r" b="b"/>
            <a:pathLst>
              <a:path w="18288000" h="1293091">
                <a:moveTo>
                  <a:pt x="18288000" y="1293091"/>
                </a:moveTo>
                <a:lnTo>
                  <a:pt x="0" y="1293091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293091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4" name="Group 4"/>
          <p:cNvGrpSpPr/>
          <p:nvPr/>
        </p:nvGrpSpPr>
        <p:grpSpPr>
          <a:xfrm>
            <a:off x="5128254" y="317393"/>
            <a:ext cx="8570275" cy="2202856"/>
            <a:chOff x="0" y="0"/>
            <a:chExt cx="11427033" cy="2937141"/>
          </a:xfrm>
        </p:grpSpPr>
        <p:sp>
          <p:nvSpPr>
            <p:cNvPr id="5" name="TextBox 5"/>
            <p:cNvSpPr txBox="1"/>
            <p:nvPr/>
          </p:nvSpPr>
          <p:spPr>
            <a:xfrm>
              <a:off x="0" y="85725"/>
              <a:ext cx="11427033" cy="19588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1281"/>
                </a:lnSpc>
              </a:pPr>
              <a:r>
                <a:rPr lang="en-US" sz="10072">
                  <a:solidFill>
                    <a:srgbClr val="4E3557"/>
                  </a:solidFill>
                  <a:latin typeface="Anton"/>
                  <a:ea typeface="Anton"/>
                  <a:cs typeface="Anton"/>
                  <a:sym typeface="Anton"/>
                </a:rPr>
                <a:t>ASSIGNMENT - 3 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465591" y="2111247"/>
              <a:ext cx="9961442" cy="8258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91"/>
                </a:lnSpc>
              </a:pPr>
              <a:r>
                <a:rPr lang="en-US" sz="4403">
                  <a:solidFill>
                    <a:srgbClr val="4E3557"/>
                  </a:solidFill>
                  <a:latin typeface="Archivo Black"/>
                  <a:ea typeface="Archivo Black"/>
                  <a:cs typeface="Archivo Black"/>
                  <a:sym typeface="Archivo Black"/>
                </a:rPr>
                <a:t>GAME PLAYING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413697" y="2725442"/>
            <a:ext cx="6287190" cy="7785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6"/>
              </a:lnSpc>
            </a:pPr>
            <a:r>
              <a:rPr lang="en-US" sz="4597" dirty="0">
                <a:solidFill>
                  <a:srgbClr val="4E3557"/>
                </a:solidFill>
                <a:latin typeface="Anton"/>
                <a:ea typeface="Anton"/>
                <a:cs typeface="Anton"/>
                <a:sym typeface="Anton"/>
              </a:rPr>
              <a:t>Implemented Algorithms:</a:t>
            </a:r>
          </a:p>
        </p:txBody>
      </p:sp>
      <p:sp>
        <p:nvSpPr>
          <p:cNvPr id="8" name="Freeform 8"/>
          <p:cNvSpPr/>
          <p:nvPr/>
        </p:nvSpPr>
        <p:spPr>
          <a:xfrm>
            <a:off x="2265553" y="3898426"/>
            <a:ext cx="557647" cy="695210"/>
          </a:xfrm>
          <a:custGeom>
            <a:avLst/>
            <a:gdLst/>
            <a:ahLst/>
            <a:cxnLst/>
            <a:rect l="l" t="t" r="r" b="b"/>
            <a:pathLst>
              <a:path w="557647" h="695210">
                <a:moveTo>
                  <a:pt x="0" y="0"/>
                </a:moveTo>
                <a:lnTo>
                  <a:pt x="557647" y="0"/>
                </a:lnTo>
                <a:lnTo>
                  <a:pt x="557647" y="695210"/>
                </a:lnTo>
                <a:lnTo>
                  <a:pt x="0" y="6952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459944" y="3807154"/>
            <a:ext cx="2471837" cy="712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93"/>
              </a:lnSpc>
            </a:pPr>
            <a:r>
              <a:rPr lang="en-US" sz="4209" b="1">
                <a:solidFill>
                  <a:srgbClr val="4E355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MINIMAX</a:t>
            </a:r>
          </a:p>
        </p:txBody>
      </p:sp>
      <p:sp>
        <p:nvSpPr>
          <p:cNvPr id="10" name="Freeform 10"/>
          <p:cNvSpPr/>
          <p:nvPr/>
        </p:nvSpPr>
        <p:spPr>
          <a:xfrm>
            <a:off x="2265553" y="4867659"/>
            <a:ext cx="557647" cy="695210"/>
          </a:xfrm>
          <a:custGeom>
            <a:avLst/>
            <a:gdLst/>
            <a:ahLst/>
            <a:cxnLst/>
            <a:rect l="l" t="t" r="r" b="b"/>
            <a:pathLst>
              <a:path w="557647" h="695210">
                <a:moveTo>
                  <a:pt x="0" y="0"/>
                </a:moveTo>
                <a:lnTo>
                  <a:pt x="557647" y="0"/>
                </a:lnTo>
                <a:lnTo>
                  <a:pt x="557647" y="695210"/>
                </a:lnTo>
                <a:lnTo>
                  <a:pt x="0" y="6952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3395412" y="4845573"/>
            <a:ext cx="6434388" cy="7172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894"/>
              </a:lnSpc>
            </a:pPr>
            <a:r>
              <a:rPr lang="en-US" sz="4210" b="1" dirty="0">
                <a:solidFill>
                  <a:srgbClr val="4E355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ALPHA-BETA PRUNING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413696" y="6079896"/>
            <a:ext cx="13750103" cy="692785"/>
            <a:chOff x="0" y="0"/>
            <a:chExt cx="17546554" cy="923713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85725"/>
              <a:ext cx="5767520" cy="10094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439"/>
                </a:lnSpc>
              </a:pPr>
              <a:r>
                <a:rPr lang="en-US" sz="4599">
                  <a:solidFill>
                    <a:srgbClr val="4E3557"/>
                  </a:solidFill>
                  <a:latin typeface="Anton"/>
                  <a:ea typeface="Anton"/>
                  <a:cs typeface="Anton"/>
                  <a:sym typeface="Anton"/>
                </a:rPr>
                <a:t>ENVIROMENT USED : 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20960" y="-85725"/>
              <a:ext cx="11325594" cy="9935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59"/>
                </a:lnSpc>
              </a:pPr>
              <a:r>
                <a:rPr lang="en-US" sz="4471" b="1" dirty="0">
                  <a:solidFill>
                    <a:srgbClr val="4E3557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Chess(for both the algorithms)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173216" y="7239702"/>
            <a:ext cx="6171184" cy="2018598"/>
            <a:chOff x="0" y="-66675"/>
            <a:chExt cx="8228245" cy="2691464"/>
          </a:xfrm>
        </p:grpSpPr>
        <p:sp>
          <p:nvSpPr>
            <p:cNvPr id="16" name="TextBox 16"/>
            <p:cNvSpPr txBox="1"/>
            <p:nvPr/>
          </p:nvSpPr>
          <p:spPr>
            <a:xfrm>
              <a:off x="2036895" y="-66675"/>
              <a:ext cx="4159351" cy="89751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5599"/>
                </a:lnSpc>
              </a:pPr>
              <a:r>
                <a:rPr lang="en-US" sz="3999" dirty="0">
                  <a:solidFill>
                    <a:srgbClr val="4E3557"/>
                  </a:solidFill>
                  <a:latin typeface="Anton"/>
                  <a:ea typeface="Anton"/>
                  <a:cs typeface="Anton"/>
                  <a:sym typeface="Anton"/>
                </a:rPr>
                <a:t>SUBMITTED BY: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1078065"/>
              <a:ext cx="8228245" cy="154672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4704"/>
                </a:lnSpc>
              </a:pPr>
              <a:r>
                <a:rPr lang="en-US" sz="3360" dirty="0">
                  <a:solidFill>
                    <a:srgbClr val="4E3557"/>
                  </a:solidFill>
                  <a:latin typeface="Alice Bold"/>
                  <a:ea typeface="Alice Bold"/>
                  <a:cs typeface="Alice Bold"/>
                  <a:sym typeface="Alice Bold"/>
                </a:rPr>
                <a:t>CS22B029 - SANJAY VARSHITH</a:t>
              </a:r>
            </a:p>
            <a:p>
              <a:pPr algn="l">
                <a:lnSpc>
                  <a:spcPts val="4704"/>
                </a:lnSpc>
              </a:pPr>
              <a:r>
                <a:rPr lang="en-US" sz="3360" dirty="0">
                  <a:solidFill>
                    <a:srgbClr val="4E3557"/>
                  </a:solidFill>
                  <a:latin typeface="Alice Bold"/>
                  <a:ea typeface="Alice Bold"/>
                  <a:cs typeface="Alice Bold"/>
                  <a:sym typeface="Alice Bold"/>
                </a:rPr>
                <a:t>CS22B006 - SAI PREETHIKA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1888" b="-11888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275270" y="571979"/>
            <a:ext cx="11397394" cy="3687355"/>
            <a:chOff x="0" y="-95250"/>
            <a:chExt cx="15196526" cy="491647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3419934"/>
              <a:ext cx="6040866" cy="1401288"/>
              <a:chOff x="0" y="0"/>
              <a:chExt cx="1584803" cy="36762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584803" cy="367624"/>
              </a:xfrm>
              <a:custGeom>
                <a:avLst/>
                <a:gdLst/>
                <a:ahLst/>
                <a:cxnLst/>
                <a:rect l="l" t="t" r="r" b="b"/>
                <a:pathLst>
                  <a:path w="1584803" h="367624">
                    <a:moveTo>
                      <a:pt x="19299" y="0"/>
                    </a:moveTo>
                    <a:lnTo>
                      <a:pt x="1565504" y="0"/>
                    </a:lnTo>
                    <a:cubicBezTo>
                      <a:pt x="1576162" y="0"/>
                      <a:pt x="1584803" y="8641"/>
                      <a:pt x="1584803" y="19299"/>
                    </a:cubicBezTo>
                    <a:lnTo>
                      <a:pt x="1584803" y="348325"/>
                    </a:lnTo>
                    <a:cubicBezTo>
                      <a:pt x="1584803" y="353443"/>
                      <a:pt x="1582769" y="358352"/>
                      <a:pt x="1579150" y="361971"/>
                    </a:cubicBezTo>
                    <a:cubicBezTo>
                      <a:pt x="1575531" y="365590"/>
                      <a:pt x="1570622" y="367624"/>
                      <a:pt x="1565504" y="367624"/>
                    </a:cubicBezTo>
                    <a:lnTo>
                      <a:pt x="19299" y="367624"/>
                    </a:lnTo>
                    <a:cubicBezTo>
                      <a:pt x="8641" y="367624"/>
                      <a:pt x="0" y="358983"/>
                      <a:pt x="0" y="348325"/>
                    </a:cubicBezTo>
                    <a:lnTo>
                      <a:pt x="0" y="19299"/>
                    </a:lnTo>
                    <a:cubicBezTo>
                      <a:pt x="0" y="14181"/>
                      <a:pt x="2033" y="9272"/>
                      <a:pt x="5653" y="5653"/>
                    </a:cubicBezTo>
                    <a:cubicBezTo>
                      <a:pt x="9272" y="2033"/>
                      <a:pt x="14181" y="0"/>
                      <a:pt x="19299" y="0"/>
                    </a:cubicBezTo>
                    <a:close/>
                  </a:path>
                </a:pathLst>
              </a:custGeom>
              <a:solidFill>
                <a:srgbClr val="4E3557"/>
              </a:solidFill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57150"/>
                <a:ext cx="1584803" cy="4247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220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377610" y="3693064"/>
              <a:ext cx="5298924" cy="8836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59"/>
                </a:lnSpc>
              </a:pPr>
              <a:r>
                <a:rPr lang="en-US" sz="4517">
                  <a:solidFill>
                    <a:srgbClr val="FFFFFF"/>
                  </a:solidFill>
                  <a:latin typeface="Anton"/>
                  <a:ea typeface="Anton"/>
                  <a:cs typeface="Anton"/>
                  <a:sym typeface="Anton"/>
                </a:rPr>
                <a:t>MINIMAX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640960" y="-95250"/>
              <a:ext cx="9555566" cy="11226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084"/>
                </a:lnSpc>
              </a:pPr>
              <a:r>
                <a:rPr lang="en-US" sz="5060">
                  <a:solidFill>
                    <a:srgbClr val="4E3557"/>
                  </a:solidFill>
                  <a:latin typeface="Anton"/>
                  <a:ea typeface="Anton"/>
                  <a:cs typeface="Anton"/>
                  <a:sym typeface="Anton"/>
                </a:rPr>
                <a:t>OUTPUTS </a:t>
              </a:r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7485376" y="3419934"/>
              <a:ext cx="7711150" cy="1401288"/>
              <a:chOff x="0" y="0"/>
              <a:chExt cx="1951903" cy="35470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951903" cy="354704"/>
              </a:xfrm>
              <a:custGeom>
                <a:avLst/>
                <a:gdLst/>
                <a:ahLst/>
                <a:cxnLst/>
                <a:rect l="l" t="t" r="r" b="b"/>
                <a:pathLst>
                  <a:path w="1951903" h="354704">
                    <a:moveTo>
                      <a:pt x="15119" y="0"/>
                    </a:moveTo>
                    <a:lnTo>
                      <a:pt x="1936784" y="0"/>
                    </a:lnTo>
                    <a:cubicBezTo>
                      <a:pt x="1945134" y="0"/>
                      <a:pt x="1951903" y="6769"/>
                      <a:pt x="1951903" y="15119"/>
                    </a:cubicBezTo>
                    <a:lnTo>
                      <a:pt x="1951903" y="339586"/>
                    </a:lnTo>
                    <a:cubicBezTo>
                      <a:pt x="1951903" y="347935"/>
                      <a:pt x="1945134" y="354704"/>
                      <a:pt x="1936784" y="354704"/>
                    </a:cubicBezTo>
                    <a:lnTo>
                      <a:pt x="15119" y="354704"/>
                    </a:lnTo>
                    <a:cubicBezTo>
                      <a:pt x="6769" y="354704"/>
                      <a:pt x="0" y="347935"/>
                      <a:pt x="0" y="339586"/>
                    </a:cubicBezTo>
                    <a:lnTo>
                      <a:pt x="0" y="15119"/>
                    </a:lnTo>
                    <a:cubicBezTo>
                      <a:pt x="0" y="6769"/>
                      <a:pt x="6769" y="0"/>
                      <a:pt x="15119" y="0"/>
                    </a:cubicBezTo>
                    <a:close/>
                  </a:path>
                </a:pathLst>
              </a:custGeom>
              <a:solidFill>
                <a:srgbClr val="4E3557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57150"/>
                <a:ext cx="1951903" cy="411854"/>
              </a:xfrm>
              <a:prstGeom prst="rect">
                <a:avLst/>
              </a:prstGeom>
            </p:spPr>
            <p:txBody>
              <a:bodyPr lIns="52650" tIns="52650" rIns="52650" bIns="52650" rtlCol="0" anchor="ctr"/>
              <a:lstStyle/>
              <a:p>
                <a:pPr algn="ctr">
                  <a:lnSpc>
                    <a:spcPts val="3219"/>
                  </a:lnSpc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7485376" y="3694364"/>
              <a:ext cx="7711150" cy="9073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44"/>
                </a:lnSpc>
              </a:pPr>
              <a:r>
                <a:rPr lang="en-US" sz="4682">
                  <a:solidFill>
                    <a:srgbClr val="FFFFFF"/>
                  </a:solidFill>
                  <a:latin typeface="Anton"/>
                  <a:ea typeface="Anton"/>
                  <a:cs typeface="Anton"/>
                  <a:sym typeface="Anton"/>
                </a:rPr>
                <a:t> ALPHA-BETA PRUNING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28873" y="1164854"/>
              <a:ext cx="6309967" cy="158804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9940"/>
                </a:lnSpc>
              </a:pPr>
              <a:r>
                <a:rPr lang="en-US" sz="7100" dirty="0">
                  <a:solidFill>
                    <a:srgbClr val="4E3557"/>
                  </a:solidFill>
                  <a:latin typeface="Anton"/>
                  <a:ea typeface="Anton"/>
                  <a:cs typeface="Anton"/>
                  <a:sym typeface="Anton"/>
                </a:rPr>
                <a:t>At Depth = 2</a:t>
              </a:r>
            </a:p>
          </p:txBody>
        </p:sp>
      </p:grpSp>
      <p:sp>
        <p:nvSpPr>
          <p:cNvPr id="14" name="Freeform 14"/>
          <p:cNvSpPr/>
          <p:nvPr/>
        </p:nvSpPr>
        <p:spPr>
          <a:xfrm>
            <a:off x="1380834" y="4775650"/>
            <a:ext cx="4319520" cy="4482650"/>
          </a:xfrm>
          <a:custGeom>
            <a:avLst/>
            <a:gdLst/>
            <a:ahLst/>
            <a:cxnLst/>
            <a:rect l="l" t="t" r="r" b="b"/>
            <a:pathLst>
              <a:path w="4319520" h="4482650">
                <a:moveTo>
                  <a:pt x="0" y="0"/>
                </a:moveTo>
                <a:lnTo>
                  <a:pt x="4319520" y="0"/>
                </a:lnTo>
                <a:lnTo>
                  <a:pt x="4319520" y="4482650"/>
                </a:lnTo>
                <a:lnTo>
                  <a:pt x="0" y="44826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9816"/>
            </a:stretch>
          </a:blipFill>
        </p:spPr>
      </p:sp>
      <p:pic>
        <p:nvPicPr>
          <p:cNvPr id="15" name="Picture 15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rcRect/>
          <a:stretch>
            <a:fillRect/>
          </a:stretch>
        </p:blipFill>
        <p:spPr>
          <a:xfrm>
            <a:off x="13143204" y="5198999"/>
            <a:ext cx="3525901" cy="3525901"/>
          </a:xfrm>
          <a:prstGeom prst="rect">
            <a:avLst/>
          </a:prstGeom>
        </p:spPr>
      </p:pic>
      <p:sp>
        <p:nvSpPr>
          <p:cNvPr id="16" name="Freeform 16"/>
          <p:cNvSpPr/>
          <p:nvPr/>
        </p:nvSpPr>
        <p:spPr>
          <a:xfrm>
            <a:off x="7327731" y="4775650"/>
            <a:ext cx="4407747" cy="4482650"/>
          </a:xfrm>
          <a:custGeom>
            <a:avLst/>
            <a:gdLst/>
            <a:ahLst/>
            <a:cxnLst/>
            <a:rect l="l" t="t" r="r" b="b"/>
            <a:pathLst>
              <a:path w="4407747" h="4482650">
                <a:moveTo>
                  <a:pt x="0" y="0"/>
                </a:moveTo>
                <a:lnTo>
                  <a:pt x="4407747" y="0"/>
                </a:lnTo>
                <a:lnTo>
                  <a:pt x="4407747" y="4482650"/>
                </a:lnTo>
                <a:lnTo>
                  <a:pt x="0" y="44826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23777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706529" y="4728555"/>
            <a:ext cx="4105807" cy="4529745"/>
          </a:xfrm>
          <a:custGeom>
            <a:avLst/>
            <a:gdLst/>
            <a:ahLst/>
            <a:cxnLst/>
            <a:rect l="l" t="t" r="r" b="b"/>
            <a:pathLst>
              <a:path w="4105807" h="4529745">
                <a:moveTo>
                  <a:pt x="0" y="0"/>
                </a:moveTo>
                <a:lnTo>
                  <a:pt x="4105807" y="0"/>
                </a:lnTo>
                <a:lnTo>
                  <a:pt x="4105807" y="4529745"/>
                </a:lnTo>
                <a:lnTo>
                  <a:pt x="0" y="45297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pic>
        <p:nvPicPr>
          <p:cNvPr id="4" name="Picture 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rcRect/>
          <a:stretch>
            <a:fillRect/>
          </a:stretch>
        </p:blipFill>
        <p:spPr>
          <a:xfrm>
            <a:off x="13658456" y="5100091"/>
            <a:ext cx="3600844" cy="3600844"/>
          </a:xfrm>
          <a:prstGeom prst="rect">
            <a:avLst/>
          </a:prstGeom>
        </p:spPr>
      </p:pic>
      <p:sp>
        <p:nvSpPr>
          <p:cNvPr id="5" name="Freeform 5"/>
          <p:cNvSpPr/>
          <p:nvPr/>
        </p:nvSpPr>
        <p:spPr>
          <a:xfrm>
            <a:off x="1735397" y="4707057"/>
            <a:ext cx="4289342" cy="4551243"/>
          </a:xfrm>
          <a:custGeom>
            <a:avLst/>
            <a:gdLst/>
            <a:ahLst/>
            <a:cxnLst/>
            <a:rect l="l" t="t" r="r" b="b"/>
            <a:pathLst>
              <a:path w="4289342" h="4551243">
                <a:moveTo>
                  <a:pt x="0" y="0"/>
                </a:moveTo>
                <a:lnTo>
                  <a:pt x="4289342" y="0"/>
                </a:lnTo>
                <a:lnTo>
                  <a:pt x="4289342" y="4551243"/>
                </a:lnTo>
                <a:lnTo>
                  <a:pt x="0" y="455124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472467" y="604845"/>
            <a:ext cx="11397394" cy="3687355"/>
            <a:chOff x="0" y="-95250"/>
            <a:chExt cx="15196526" cy="4916472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3419934"/>
              <a:ext cx="6040866" cy="1401288"/>
              <a:chOff x="0" y="0"/>
              <a:chExt cx="1584803" cy="3676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584803" cy="367624"/>
              </a:xfrm>
              <a:custGeom>
                <a:avLst/>
                <a:gdLst/>
                <a:ahLst/>
                <a:cxnLst/>
                <a:rect l="l" t="t" r="r" b="b"/>
                <a:pathLst>
                  <a:path w="1584803" h="367624">
                    <a:moveTo>
                      <a:pt x="19299" y="0"/>
                    </a:moveTo>
                    <a:lnTo>
                      <a:pt x="1565504" y="0"/>
                    </a:lnTo>
                    <a:cubicBezTo>
                      <a:pt x="1576162" y="0"/>
                      <a:pt x="1584803" y="8641"/>
                      <a:pt x="1584803" y="19299"/>
                    </a:cubicBezTo>
                    <a:lnTo>
                      <a:pt x="1584803" y="348325"/>
                    </a:lnTo>
                    <a:cubicBezTo>
                      <a:pt x="1584803" y="353443"/>
                      <a:pt x="1582769" y="358352"/>
                      <a:pt x="1579150" y="361971"/>
                    </a:cubicBezTo>
                    <a:cubicBezTo>
                      <a:pt x="1575531" y="365590"/>
                      <a:pt x="1570622" y="367624"/>
                      <a:pt x="1565504" y="367624"/>
                    </a:cubicBezTo>
                    <a:lnTo>
                      <a:pt x="19299" y="367624"/>
                    </a:lnTo>
                    <a:cubicBezTo>
                      <a:pt x="8641" y="367624"/>
                      <a:pt x="0" y="358983"/>
                      <a:pt x="0" y="348325"/>
                    </a:cubicBezTo>
                    <a:lnTo>
                      <a:pt x="0" y="19299"/>
                    </a:lnTo>
                    <a:cubicBezTo>
                      <a:pt x="0" y="14181"/>
                      <a:pt x="2033" y="9272"/>
                      <a:pt x="5653" y="5653"/>
                    </a:cubicBezTo>
                    <a:cubicBezTo>
                      <a:pt x="9272" y="2033"/>
                      <a:pt x="14181" y="0"/>
                      <a:pt x="19299" y="0"/>
                    </a:cubicBezTo>
                    <a:close/>
                  </a:path>
                </a:pathLst>
              </a:custGeom>
              <a:solidFill>
                <a:srgbClr val="4E3557"/>
              </a:solidFill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57150"/>
                <a:ext cx="1584803" cy="4247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220"/>
                  </a:lnSpc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377610" y="3693064"/>
              <a:ext cx="5298924" cy="8836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059"/>
                </a:lnSpc>
              </a:pPr>
              <a:r>
                <a:rPr lang="en-US" sz="4517">
                  <a:solidFill>
                    <a:srgbClr val="FFFFFF"/>
                  </a:solidFill>
                  <a:latin typeface="Anton"/>
                  <a:ea typeface="Anton"/>
                  <a:cs typeface="Anton"/>
                  <a:sym typeface="Anton"/>
                </a:rPr>
                <a:t>MINIMAX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640960" y="-95250"/>
              <a:ext cx="9555566" cy="11226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084"/>
                </a:lnSpc>
              </a:pPr>
              <a:r>
                <a:rPr lang="en-US" sz="5060">
                  <a:solidFill>
                    <a:srgbClr val="4E3557"/>
                  </a:solidFill>
                  <a:latin typeface="Anton"/>
                  <a:ea typeface="Anton"/>
                  <a:cs typeface="Anton"/>
                  <a:sym typeface="Anton"/>
                </a:rPr>
                <a:t>OUTPUTS </a:t>
              </a:r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7485376" y="3419934"/>
              <a:ext cx="7711150" cy="1401288"/>
              <a:chOff x="0" y="0"/>
              <a:chExt cx="1951903" cy="35470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951903" cy="354704"/>
              </a:xfrm>
              <a:custGeom>
                <a:avLst/>
                <a:gdLst/>
                <a:ahLst/>
                <a:cxnLst/>
                <a:rect l="l" t="t" r="r" b="b"/>
                <a:pathLst>
                  <a:path w="1951903" h="354704">
                    <a:moveTo>
                      <a:pt x="15119" y="0"/>
                    </a:moveTo>
                    <a:lnTo>
                      <a:pt x="1936784" y="0"/>
                    </a:lnTo>
                    <a:cubicBezTo>
                      <a:pt x="1945134" y="0"/>
                      <a:pt x="1951903" y="6769"/>
                      <a:pt x="1951903" y="15119"/>
                    </a:cubicBezTo>
                    <a:lnTo>
                      <a:pt x="1951903" y="339586"/>
                    </a:lnTo>
                    <a:cubicBezTo>
                      <a:pt x="1951903" y="347935"/>
                      <a:pt x="1945134" y="354704"/>
                      <a:pt x="1936784" y="354704"/>
                    </a:cubicBezTo>
                    <a:lnTo>
                      <a:pt x="15119" y="354704"/>
                    </a:lnTo>
                    <a:cubicBezTo>
                      <a:pt x="6769" y="354704"/>
                      <a:pt x="0" y="347935"/>
                      <a:pt x="0" y="339586"/>
                    </a:cubicBezTo>
                    <a:lnTo>
                      <a:pt x="0" y="15119"/>
                    </a:lnTo>
                    <a:cubicBezTo>
                      <a:pt x="0" y="6769"/>
                      <a:pt x="6769" y="0"/>
                      <a:pt x="15119" y="0"/>
                    </a:cubicBezTo>
                    <a:close/>
                  </a:path>
                </a:pathLst>
              </a:custGeom>
              <a:solidFill>
                <a:srgbClr val="4E3557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57150"/>
                <a:ext cx="1951903" cy="411854"/>
              </a:xfrm>
              <a:prstGeom prst="rect">
                <a:avLst/>
              </a:prstGeom>
            </p:spPr>
            <p:txBody>
              <a:bodyPr lIns="52650" tIns="52650" rIns="52650" bIns="52650" rtlCol="0" anchor="ctr"/>
              <a:lstStyle/>
              <a:p>
                <a:pPr algn="ctr">
                  <a:lnSpc>
                    <a:spcPts val="321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7485376" y="3694364"/>
              <a:ext cx="7711150" cy="9073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244"/>
                </a:lnSpc>
              </a:pPr>
              <a:r>
                <a:rPr lang="en-US" sz="4682">
                  <a:solidFill>
                    <a:srgbClr val="FFFFFF"/>
                  </a:solidFill>
                  <a:latin typeface="Anton"/>
                  <a:ea typeface="Anton"/>
                  <a:cs typeface="Anton"/>
                  <a:sym typeface="Anton"/>
                </a:rPr>
                <a:t> ALPHA-BETA PRUNING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28873" y="1164854"/>
              <a:ext cx="6040866" cy="158804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9940"/>
                </a:lnSpc>
              </a:pPr>
              <a:r>
                <a:rPr lang="en-US" sz="7100" dirty="0">
                  <a:solidFill>
                    <a:srgbClr val="4E3557"/>
                  </a:solidFill>
                  <a:latin typeface="Anton"/>
                  <a:ea typeface="Anton"/>
                  <a:cs typeface="Anton"/>
                  <a:sym typeface="Anton"/>
                </a:rPr>
                <a:t>At Depth = 3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1771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1888" b="-11888"/>
            </a:stretch>
          </a:blipFill>
        </p:spPr>
      </p:sp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175412"/>
              </p:ext>
            </p:extLst>
          </p:nvPr>
        </p:nvGraphicFramePr>
        <p:xfrm>
          <a:off x="2841455" y="5555558"/>
          <a:ext cx="12605090" cy="3937649"/>
        </p:xfrm>
        <a:graphic>
          <a:graphicData uri="http://schemas.openxmlformats.org/drawingml/2006/table">
            <a:tbl>
              <a:tblPr/>
              <a:tblGrid>
                <a:gridCol w="23896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78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70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081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323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42744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Glacial Indifference Bold"/>
                          <a:ea typeface="Glacial Indifference Bold"/>
                          <a:cs typeface="Glacial Indifference Bold"/>
                          <a:sym typeface="Glacial Indifference Bold"/>
                        </a:rPr>
                        <a:t>ALGORITHM USED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Glacial Indifference Bold"/>
                          <a:ea typeface="Glacial Indifference Bold"/>
                          <a:cs typeface="Glacial Indifference Bold"/>
                          <a:sym typeface="Glacial Indifference Bold"/>
                        </a:rPr>
                        <a:t>RESULT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Glacial Indifference Bold"/>
                          <a:ea typeface="Glacial Indifference Bold"/>
                          <a:cs typeface="Glacial Indifference Bold"/>
                          <a:sym typeface="Glacial Indifference Bold"/>
                        </a:rPr>
                        <a:t>DEPTH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Glacial Indifference Bold"/>
                          <a:ea typeface="Glacial Indifference Bold"/>
                          <a:cs typeface="Glacial Indifference Bold"/>
                          <a:sym typeface="Glacial Indifference Bold"/>
                        </a:rPr>
                        <a:t>MOVES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Glacial Indifference Bold"/>
                          <a:ea typeface="Glacial Indifference Bold"/>
                          <a:cs typeface="Glacial Indifference Bold"/>
                          <a:sym typeface="Glacial Indifference Bold"/>
                        </a:rPr>
                        <a:t>TIME TAKEN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68955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Glacial Indifference"/>
                          <a:ea typeface="Glacial Indifference"/>
                          <a:cs typeface="Glacial Indifference"/>
                          <a:sym typeface="Glacial Indifference"/>
                        </a:rPr>
                        <a:t>MINIMAX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5950"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Glacial Indifference"/>
                          <a:ea typeface="Glacial Indifference"/>
                          <a:cs typeface="Glacial Indifference"/>
                          <a:sym typeface="Glacial Indifference"/>
                        </a:rPr>
                        <a:t>ALPHA-BETA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-197197" y="560590"/>
            <a:ext cx="6969477" cy="840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89"/>
              </a:lnSpc>
            </a:pPr>
            <a:r>
              <a:rPr lang="en-US" sz="4921">
                <a:solidFill>
                  <a:srgbClr val="4E3557"/>
                </a:solidFill>
                <a:latin typeface="Anton"/>
                <a:ea typeface="Anton"/>
                <a:cs typeface="Anton"/>
                <a:sym typeface="Anton"/>
              </a:rPr>
              <a:t>Evaluation Function: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864369" y="1519940"/>
            <a:ext cx="16585431" cy="2630193"/>
            <a:chOff x="0" y="-47626"/>
            <a:chExt cx="23231508" cy="4524491"/>
          </a:xfrm>
        </p:grpSpPr>
        <p:sp>
          <p:nvSpPr>
            <p:cNvPr id="6" name="TextBox 6"/>
            <p:cNvSpPr txBox="1"/>
            <p:nvPr/>
          </p:nvSpPr>
          <p:spPr>
            <a:xfrm>
              <a:off x="0" y="-47626"/>
              <a:ext cx="23231508" cy="15297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52"/>
                </a:lnSpc>
                <a:spcBef>
                  <a:spcPct val="0"/>
                </a:spcBef>
              </a:pPr>
              <a:r>
                <a:rPr lang="en-US" sz="2537" b="1" dirty="0">
                  <a:solidFill>
                    <a:srgbClr val="4E3557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Material and Positional Evaluation (Eval(node)):</a:t>
              </a:r>
              <a:r>
                <a:rPr lang="en-US" sz="2537" dirty="0">
                  <a:solidFill>
                    <a:srgbClr val="4E3557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 Assigns predefined values to pieces and adds positional bonuses based on their placement using piece-square tables.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449743"/>
              <a:ext cx="20883946" cy="15297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52"/>
                </a:lnSpc>
                <a:spcBef>
                  <a:spcPct val="0"/>
                </a:spcBef>
              </a:pPr>
              <a:r>
                <a:rPr lang="en-US" sz="2537" b="1" dirty="0">
                  <a:solidFill>
                    <a:srgbClr val="4E3557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Strategic Bonuses (S(node)):</a:t>
              </a:r>
              <a:r>
                <a:rPr lang="en-US" sz="2537" dirty="0">
                  <a:solidFill>
                    <a:srgbClr val="4E3557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 Includes bonuses for having a bishop pair, rooks on open files, and greater mobility (more legal moves).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2947111"/>
              <a:ext cx="22524985" cy="15297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52"/>
                </a:lnSpc>
                <a:spcBef>
                  <a:spcPct val="0"/>
                </a:spcBef>
              </a:pPr>
              <a:r>
                <a:rPr lang="en-US" sz="2537" b="1" dirty="0">
                  <a:solidFill>
                    <a:srgbClr val="4E3557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Game Outcome (O(node)):</a:t>
              </a:r>
              <a:r>
                <a:rPr lang="en-US" sz="2537" dirty="0">
                  <a:solidFill>
                    <a:srgbClr val="4E3557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 Returns high positive/negative scores for checkmate, 0 for stalemate, and evaluates board favorability for white or black based on the above factors.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-1143000" y="4844927"/>
            <a:ext cx="6251033" cy="829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889"/>
              </a:lnSpc>
            </a:pPr>
            <a:r>
              <a:rPr lang="en-US" sz="4921" dirty="0">
                <a:solidFill>
                  <a:srgbClr val="4E3557"/>
                </a:solidFill>
                <a:latin typeface="Anton"/>
                <a:ea typeface="Anton"/>
                <a:cs typeface="Anton"/>
                <a:sym typeface="Anton"/>
              </a:rPr>
              <a:t>RESULTS:</a:t>
            </a:r>
          </a:p>
        </p:txBody>
      </p:sp>
      <p:sp>
        <p:nvSpPr>
          <p:cNvPr id="10" name="AutoShape 10"/>
          <p:cNvSpPr/>
          <p:nvPr/>
        </p:nvSpPr>
        <p:spPr>
          <a:xfrm>
            <a:off x="5260434" y="7035249"/>
            <a:ext cx="10186111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AutoShape 11"/>
          <p:cNvSpPr/>
          <p:nvPr/>
        </p:nvSpPr>
        <p:spPr>
          <a:xfrm>
            <a:off x="5260434" y="8659009"/>
            <a:ext cx="10186111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5739436" y="6308734"/>
            <a:ext cx="574605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2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39436" y="7111449"/>
            <a:ext cx="574605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739436" y="7910914"/>
            <a:ext cx="574605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739436" y="8763784"/>
            <a:ext cx="574605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133909" y="6283409"/>
            <a:ext cx="574605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36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133909" y="7140024"/>
            <a:ext cx="574605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79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133909" y="7907169"/>
            <a:ext cx="574605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36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133909" y="8763784"/>
            <a:ext cx="574605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76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006937" y="6311984"/>
            <a:ext cx="574605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7.52 secs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006937" y="7140024"/>
            <a:ext cx="574605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159.16 secs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006937" y="7939489"/>
            <a:ext cx="574605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4.42 secs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006937" y="8763784"/>
            <a:ext cx="5746056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39.88 secs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477971" y="6467921"/>
            <a:ext cx="3895316" cy="395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6"/>
              </a:lnSpc>
            </a:pPr>
            <a:r>
              <a:rPr lang="en-US" sz="2304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1/2-1/2 (Draw)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477971" y="7241805"/>
            <a:ext cx="3895316" cy="395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6"/>
              </a:lnSpc>
            </a:pPr>
            <a:r>
              <a:rPr lang="en-US" sz="2304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1/2-1/2 (Draw)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477971" y="8015689"/>
            <a:ext cx="3895316" cy="395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6"/>
              </a:lnSpc>
            </a:pPr>
            <a:r>
              <a:rPr lang="en-US" sz="2304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1/2-1/2 (Draw)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477971" y="8789573"/>
            <a:ext cx="3895316" cy="3958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6"/>
              </a:lnSpc>
            </a:pPr>
            <a:r>
              <a:rPr lang="en-US" sz="2304">
                <a:solidFill>
                  <a:srgbClr val="4E3557"/>
                </a:solidFill>
                <a:latin typeface="Canva Sans"/>
                <a:ea typeface="Canva Sans"/>
                <a:cs typeface="Canva Sans"/>
                <a:sym typeface="Canva Sans"/>
              </a:rPr>
              <a:t>1/2-1/2 (Draw)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118886-5B0A-E14C-E054-8B7346D29D13}"/>
              </a:ext>
            </a:extLst>
          </p:cNvPr>
          <p:cNvSpPr txBox="1"/>
          <p:nvPr/>
        </p:nvSpPr>
        <p:spPr>
          <a:xfrm>
            <a:off x="6777723" y="4395382"/>
            <a:ext cx="54142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Eval(node)  = M(node)+S(node)+O(node)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1888" b="-11888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961602" y="379798"/>
            <a:ext cx="6877853" cy="1142163"/>
            <a:chOff x="0" y="0"/>
            <a:chExt cx="9170470" cy="1522884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9170470" cy="1522884"/>
              <a:chOff x="0" y="0"/>
              <a:chExt cx="2371002" cy="393738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2371003" cy="393738"/>
              </a:xfrm>
              <a:custGeom>
                <a:avLst/>
                <a:gdLst/>
                <a:ahLst/>
                <a:cxnLst/>
                <a:rect l="l" t="t" r="r" b="b"/>
                <a:pathLst>
                  <a:path w="2371003" h="393738">
                    <a:moveTo>
                      <a:pt x="12900" y="0"/>
                    </a:moveTo>
                    <a:lnTo>
                      <a:pt x="2358103" y="0"/>
                    </a:lnTo>
                    <a:cubicBezTo>
                      <a:pt x="2365227" y="0"/>
                      <a:pt x="2371003" y="5775"/>
                      <a:pt x="2371003" y="12900"/>
                    </a:cubicBezTo>
                    <a:lnTo>
                      <a:pt x="2371003" y="380838"/>
                    </a:lnTo>
                    <a:cubicBezTo>
                      <a:pt x="2371003" y="387963"/>
                      <a:pt x="2365227" y="393738"/>
                      <a:pt x="2358103" y="393738"/>
                    </a:cubicBezTo>
                    <a:lnTo>
                      <a:pt x="12900" y="393738"/>
                    </a:lnTo>
                    <a:cubicBezTo>
                      <a:pt x="5775" y="393738"/>
                      <a:pt x="0" y="387963"/>
                      <a:pt x="0" y="380838"/>
                    </a:cubicBezTo>
                    <a:lnTo>
                      <a:pt x="0" y="12900"/>
                    </a:lnTo>
                    <a:cubicBezTo>
                      <a:pt x="0" y="5775"/>
                      <a:pt x="5775" y="0"/>
                      <a:pt x="12900" y="0"/>
                    </a:cubicBezTo>
                    <a:close/>
                  </a:path>
                </a:pathLst>
              </a:custGeom>
              <a:solidFill>
                <a:srgbClr val="4E3557"/>
              </a:solidFill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57150"/>
                <a:ext cx="2371002" cy="45088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220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0" y="336717"/>
              <a:ext cx="9170470" cy="8875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134"/>
                </a:lnSpc>
              </a:pPr>
              <a:r>
                <a:rPr lang="en-US" sz="4584">
                  <a:solidFill>
                    <a:srgbClr val="FFFFFF"/>
                  </a:solidFill>
                  <a:latin typeface="Anton"/>
                  <a:ea typeface="Anton"/>
                  <a:cs typeface="Anton"/>
                  <a:sym typeface="Anton"/>
                </a:rPr>
                <a:t>OBERVATIONS AND REASONING 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305624" y="1750852"/>
            <a:ext cx="15676752" cy="1288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83"/>
              </a:lnSpc>
              <a:spcBef>
                <a:spcPct val="0"/>
              </a:spcBef>
            </a:pPr>
            <a:r>
              <a:rPr lang="en-US" sz="255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Draw Outcome (1/2–1/2):</a:t>
            </a:r>
          </a:p>
          <a:p>
            <a:pPr algn="l">
              <a:lnSpc>
                <a:spcPts val="3444"/>
              </a:lnSpc>
              <a:spcBef>
                <a:spcPct val="0"/>
              </a:spcBef>
            </a:pPr>
            <a:r>
              <a:rPr lang="en-US" sz="246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→ The evaluation uses material + positional heuristics but doesn't aggressively push for checkmate. So, if no clear advantage is found, the game tends toward equilibrium (draw)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05624" y="3303907"/>
            <a:ext cx="16174362" cy="214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83"/>
              </a:lnSpc>
              <a:spcBef>
                <a:spcPct val="0"/>
              </a:spcBef>
            </a:pPr>
            <a:r>
              <a:rPr lang="en-US" sz="255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Move Count</a:t>
            </a:r>
          </a:p>
          <a:p>
            <a:pPr algn="l">
              <a:lnSpc>
                <a:spcPts val="3443"/>
              </a:lnSpc>
              <a:spcBef>
                <a:spcPct val="0"/>
              </a:spcBef>
            </a:pPr>
            <a:r>
              <a:rPr lang="en-US" sz="245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→ Without pruning, Minimax explores all branches, including many suboptimal or equivalent lines, leading to non-optimal move choices that prolong the game. </a:t>
            </a:r>
          </a:p>
          <a:p>
            <a:pPr algn="l">
              <a:lnSpc>
                <a:spcPts val="3443"/>
              </a:lnSpc>
              <a:spcBef>
                <a:spcPct val="0"/>
              </a:spcBef>
            </a:pPr>
            <a:r>
              <a:rPr lang="en-US" sz="245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→ In contrast, Alpha-Beta prunes irrelevant paths, focusing on stronger continuations, yielding the same result in fewer, more efficient moves.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05624" y="5714213"/>
            <a:ext cx="15901790" cy="12887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83"/>
              </a:lnSpc>
              <a:spcBef>
                <a:spcPct val="0"/>
              </a:spcBef>
            </a:pPr>
            <a:r>
              <a:rPr lang="en-US" sz="255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Time Efficiency</a:t>
            </a:r>
          </a:p>
          <a:p>
            <a:pPr algn="l">
              <a:lnSpc>
                <a:spcPts val="3444"/>
              </a:lnSpc>
              <a:spcBef>
                <a:spcPct val="0"/>
              </a:spcBef>
            </a:pPr>
            <a:r>
              <a:rPr lang="en-US" sz="246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→ Alpha-Beta pruning drastically reduces computation time(observed that at depth 3 , is 4 times faster than Minimax).</a:t>
            </a:r>
          </a:p>
          <a:p>
            <a:pPr algn="l">
              <a:lnSpc>
                <a:spcPts val="3444"/>
              </a:lnSpc>
              <a:spcBef>
                <a:spcPct val="0"/>
              </a:spcBef>
            </a:pPr>
            <a:r>
              <a:rPr lang="en-US" sz="246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→ This is because Alpha-Beta skips evaluating branches that won't affect the final decision.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05624" y="7357481"/>
            <a:ext cx="16094985" cy="2574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83"/>
              </a:lnSpc>
              <a:spcBef>
                <a:spcPct val="0"/>
              </a:spcBef>
            </a:pPr>
            <a:r>
              <a:rPr lang="en-US" sz="255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Increase in Time and optimality with increase in Depth</a:t>
            </a:r>
          </a:p>
          <a:p>
            <a:pPr algn="l">
              <a:lnSpc>
                <a:spcPts val="3444"/>
              </a:lnSpc>
              <a:spcBef>
                <a:spcPct val="0"/>
              </a:spcBef>
            </a:pPr>
            <a:r>
              <a:rPr lang="en-US" sz="246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→ As depth increases, the algorithm evaluates future consequences of moves more accurately, enabling better decision-making; this leads to increased optimality since the agent avoids short-term gains that result in long-term losses.</a:t>
            </a:r>
          </a:p>
          <a:p>
            <a:pPr algn="l">
              <a:lnSpc>
                <a:spcPts val="3444"/>
              </a:lnSpc>
              <a:spcBef>
                <a:spcPct val="0"/>
              </a:spcBef>
            </a:pPr>
            <a:r>
              <a:rPr lang="en-US" sz="246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→ This comes at the cost of increased computation time due to the exponential growth of the game tree.</a:t>
            </a:r>
          </a:p>
          <a:p>
            <a:pPr algn="l">
              <a:lnSpc>
                <a:spcPts val="3444"/>
              </a:lnSpc>
              <a:spcBef>
                <a:spcPct val="0"/>
              </a:spcBef>
            </a:pPr>
            <a:endParaRPr lang="en-US" sz="246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397</Words>
  <Application>Microsoft Office PowerPoint</Application>
  <PresentationFormat>Custom</PresentationFormat>
  <Paragraphs>59</Paragraphs>
  <Slides>5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Anton</vt:lpstr>
      <vt:lpstr>Glacial Indifference Bold</vt:lpstr>
      <vt:lpstr>Archivo Black</vt:lpstr>
      <vt:lpstr>Arial</vt:lpstr>
      <vt:lpstr>Canva Sans Bold</vt:lpstr>
      <vt:lpstr>Glacial Indifference</vt:lpstr>
      <vt:lpstr>Canva Sans</vt:lpstr>
      <vt:lpstr>Calibri</vt:lpstr>
      <vt:lpstr>Alice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Purple Minimalist Thesis Defense Presentation</dc:title>
  <cp:lastModifiedBy>SAI PREETHIKA</cp:lastModifiedBy>
  <cp:revision>5</cp:revision>
  <dcterms:created xsi:type="dcterms:W3CDTF">2006-08-16T00:00:00Z</dcterms:created>
  <dcterms:modified xsi:type="dcterms:W3CDTF">2025-04-30T16:54:29Z</dcterms:modified>
  <dc:identifier>DAGmGPv4NYk</dc:identifier>
</cp:coreProperties>
</file>