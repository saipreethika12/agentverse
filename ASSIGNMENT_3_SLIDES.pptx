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lice Bold" panose="020B0604020202020204" charset="0"/>
      <p:regular r:id="rId7"/>
    </p:embeddedFont>
    <p:embeddedFont>
      <p:font typeface="Anton" pitchFamily="2" charset="0"/>
      <p:regular r:id="rId8"/>
    </p:embeddedFont>
    <p:embeddedFont>
      <p:font typeface="Archivo Black" panose="020B0604020202020204" charset="0"/>
      <p:regular r:id="rId9"/>
    </p:embeddedFon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Glacial Indifference" panose="020B0604020202020204" charset="0"/>
      <p:regular r:id="rId12"/>
    </p:embeddedFont>
    <p:embeddedFont>
      <p:font typeface="Glacial Indifference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88" b="-11888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9258300"/>
            <a:ext cx="18288000" cy="1293091"/>
          </a:xfrm>
          <a:custGeom>
            <a:avLst/>
            <a:gdLst/>
            <a:ahLst/>
            <a:cxnLst/>
            <a:rect l="l" t="t" r="r" b="b"/>
            <a:pathLst>
              <a:path w="18288000" h="1293091">
                <a:moveTo>
                  <a:pt x="18288000" y="1293091"/>
                </a:moveTo>
                <a:lnTo>
                  <a:pt x="0" y="1293091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29309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5128254" y="317393"/>
            <a:ext cx="8570275" cy="2202856"/>
            <a:chOff x="0" y="0"/>
            <a:chExt cx="11427033" cy="2937141"/>
          </a:xfrm>
        </p:grpSpPr>
        <p:sp>
          <p:nvSpPr>
            <p:cNvPr id="5" name="TextBox 5"/>
            <p:cNvSpPr txBox="1"/>
            <p:nvPr/>
          </p:nvSpPr>
          <p:spPr>
            <a:xfrm>
              <a:off x="0" y="85725"/>
              <a:ext cx="11427033" cy="1958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81"/>
                </a:lnSpc>
              </a:pPr>
              <a:r>
                <a:rPr lang="en-US" sz="10072">
                  <a:solidFill>
                    <a:srgbClr val="4E3557"/>
                  </a:solidFill>
                  <a:latin typeface="Anton"/>
                  <a:ea typeface="Anton"/>
                  <a:cs typeface="Anton"/>
                  <a:sym typeface="Anton"/>
                </a:rPr>
                <a:t>ASSIGNMENT - 3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65591" y="2111247"/>
              <a:ext cx="9961442" cy="825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91"/>
                </a:lnSpc>
              </a:pPr>
              <a:r>
                <a:rPr lang="en-US" sz="4403">
                  <a:solidFill>
                    <a:srgbClr val="4E35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GAME PLAYING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13697" y="2725442"/>
            <a:ext cx="6287190" cy="778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6"/>
              </a:lnSpc>
            </a:pPr>
            <a:r>
              <a:rPr lang="en-US" sz="4597" dirty="0">
                <a:solidFill>
                  <a:srgbClr val="4E3557"/>
                </a:solidFill>
                <a:latin typeface="Anton"/>
                <a:ea typeface="Anton"/>
                <a:cs typeface="Anton"/>
                <a:sym typeface="Anton"/>
              </a:rPr>
              <a:t>Implemented Algorithms:</a:t>
            </a:r>
          </a:p>
        </p:txBody>
      </p:sp>
      <p:sp>
        <p:nvSpPr>
          <p:cNvPr id="8" name="Freeform 8"/>
          <p:cNvSpPr/>
          <p:nvPr/>
        </p:nvSpPr>
        <p:spPr>
          <a:xfrm>
            <a:off x="2265553" y="3898426"/>
            <a:ext cx="557647" cy="695210"/>
          </a:xfrm>
          <a:custGeom>
            <a:avLst/>
            <a:gdLst/>
            <a:ahLst/>
            <a:cxnLst/>
            <a:rect l="l" t="t" r="r" b="b"/>
            <a:pathLst>
              <a:path w="557647" h="695210">
                <a:moveTo>
                  <a:pt x="0" y="0"/>
                </a:moveTo>
                <a:lnTo>
                  <a:pt x="557647" y="0"/>
                </a:lnTo>
                <a:lnTo>
                  <a:pt x="557647" y="695210"/>
                </a:lnTo>
                <a:lnTo>
                  <a:pt x="0" y="6952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59944" y="3807154"/>
            <a:ext cx="2471837" cy="712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3"/>
              </a:lnSpc>
            </a:pPr>
            <a:r>
              <a:rPr lang="en-US" sz="4209" b="1">
                <a:solidFill>
                  <a:srgbClr val="4E35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MINIMAX</a:t>
            </a:r>
          </a:p>
        </p:txBody>
      </p:sp>
      <p:sp>
        <p:nvSpPr>
          <p:cNvPr id="10" name="Freeform 10"/>
          <p:cNvSpPr/>
          <p:nvPr/>
        </p:nvSpPr>
        <p:spPr>
          <a:xfrm>
            <a:off x="2265553" y="4867659"/>
            <a:ext cx="557647" cy="695210"/>
          </a:xfrm>
          <a:custGeom>
            <a:avLst/>
            <a:gdLst/>
            <a:ahLst/>
            <a:cxnLst/>
            <a:rect l="l" t="t" r="r" b="b"/>
            <a:pathLst>
              <a:path w="557647" h="695210">
                <a:moveTo>
                  <a:pt x="0" y="0"/>
                </a:moveTo>
                <a:lnTo>
                  <a:pt x="557647" y="0"/>
                </a:lnTo>
                <a:lnTo>
                  <a:pt x="557647" y="695210"/>
                </a:lnTo>
                <a:lnTo>
                  <a:pt x="0" y="6952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395412" y="4845573"/>
            <a:ext cx="6434388" cy="717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</a:pPr>
            <a:r>
              <a:rPr lang="en-US" sz="4210" b="1" dirty="0">
                <a:solidFill>
                  <a:srgbClr val="4E35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ALPHA-BETA PRUNING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13696" y="6079896"/>
            <a:ext cx="13750103" cy="692785"/>
            <a:chOff x="0" y="0"/>
            <a:chExt cx="17546554" cy="92371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85725"/>
              <a:ext cx="5767520" cy="1009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39"/>
                </a:lnSpc>
              </a:pPr>
              <a:r>
                <a:rPr lang="en-US" sz="4599">
                  <a:solidFill>
                    <a:srgbClr val="4E3557"/>
                  </a:solidFill>
                  <a:latin typeface="Anton"/>
                  <a:ea typeface="Anton"/>
                  <a:cs typeface="Anton"/>
                  <a:sym typeface="Anton"/>
                </a:rPr>
                <a:t>ENVIROMENT USED :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20960" y="-85725"/>
              <a:ext cx="11325594" cy="993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59"/>
                </a:lnSpc>
              </a:pPr>
              <a:r>
                <a:rPr lang="en-US" sz="4471" b="1" dirty="0">
                  <a:solidFill>
                    <a:srgbClr val="4E355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Chess(for both the algorithms)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3216" y="7239702"/>
            <a:ext cx="6171184" cy="2018598"/>
            <a:chOff x="0" y="-66675"/>
            <a:chExt cx="8228245" cy="2691464"/>
          </a:xfrm>
        </p:grpSpPr>
        <p:sp>
          <p:nvSpPr>
            <p:cNvPr id="16" name="TextBox 16"/>
            <p:cNvSpPr txBox="1"/>
            <p:nvPr/>
          </p:nvSpPr>
          <p:spPr>
            <a:xfrm>
              <a:off x="2036895" y="-66675"/>
              <a:ext cx="4159351" cy="8975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dirty="0">
                  <a:solidFill>
                    <a:srgbClr val="4E3557"/>
                  </a:solidFill>
                  <a:latin typeface="Anton"/>
                  <a:ea typeface="Anton"/>
                  <a:cs typeface="Anton"/>
                  <a:sym typeface="Anton"/>
                </a:rPr>
                <a:t>SUBMITTED BY: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8065"/>
              <a:ext cx="8228245" cy="15467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704"/>
                </a:lnSpc>
              </a:pPr>
              <a:r>
                <a:rPr lang="en-US" sz="3360" dirty="0">
                  <a:solidFill>
                    <a:srgbClr val="4E3557"/>
                  </a:solidFill>
                  <a:latin typeface="Alice Bold"/>
                  <a:ea typeface="Alice Bold"/>
                  <a:cs typeface="Alice Bold"/>
                  <a:sym typeface="Alice Bold"/>
                </a:rPr>
                <a:t>CS22B029 - SANJAY VARSHITH</a:t>
              </a:r>
            </a:p>
            <a:p>
              <a:pPr algn="l">
                <a:lnSpc>
                  <a:spcPts val="4704"/>
                </a:lnSpc>
              </a:pPr>
              <a:r>
                <a:rPr lang="en-US" sz="3360" dirty="0">
                  <a:solidFill>
                    <a:srgbClr val="4E3557"/>
                  </a:solidFill>
                  <a:latin typeface="Alice Bold"/>
                  <a:ea typeface="Alice Bold"/>
                  <a:cs typeface="Alice Bold"/>
                  <a:sym typeface="Alice Bold"/>
                </a:rPr>
                <a:t>CS22B006 - SAI PREETHIKA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888" b="-11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5270" y="571979"/>
            <a:ext cx="11397394" cy="3687355"/>
            <a:chOff x="0" y="-95250"/>
            <a:chExt cx="15196526" cy="491647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3419934"/>
              <a:ext cx="6040866" cy="1401288"/>
              <a:chOff x="0" y="0"/>
              <a:chExt cx="1584803" cy="36762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84803" cy="367624"/>
              </a:xfrm>
              <a:custGeom>
                <a:avLst/>
                <a:gdLst/>
                <a:ahLst/>
                <a:cxnLst/>
                <a:rect l="l" t="t" r="r" b="b"/>
                <a:pathLst>
                  <a:path w="1584803" h="367624">
                    <a:moveTo>
                      <a:pt x="19299" y="0"/>
                    </a:moveTo>
                    <a:lnTo>
                      <a:pt x="1565504" y="0"/>
                    </a:lnTo>
                    <a:cubicBezTo>
                      <a:pt x="1576162" y="0"/>
                      <a:pt x="1584803" y="8641"/>
                      <a:pt x="1584803" y="19299"/>
                    </a:cubicBezTo>
                    <a:lnTo>
                      <a:pt x="1584803" y="348325"/>
                    </a:lnTo>
                    <a:cubicBezTo>
                      <a:pt x="1584803" y="353443"/>
                      <a:pt x="1582769" y="358352"/>
                      <a:pt x="1579150" y="361971"/>
                    </a:cubicBezTo>
                    <a:cubicBezTo>
                      <a:pt x="1575531" y="365590"/>
                      <a:pt x="1570622" y="367624"/>
                      <a:pt x="1565504" y="367624"/>
                    </a:cubicBezTo>
                    <a:lnTo>
                      <a:pt x="19299" y="367624"/>
                    </a:lnTo>
                    <a:cubicBezTo>
                      <a:pt x="8641" y="367624"/>
                      <a:pt x="0" y="358983"/>
                      <a:pt x="0" y="348325"/>
                    </a:cubicBezTo>
                    <a:lnTo>
                      <a:pt x="0" y="19299"/>
                    </a:lnTo>
                    <a:cubicBezTo>
                      <a:pt x="0" y="14181"/>
                      <a:pt x="2033" y="9272"/>
                      <a:pt x="5653" y="5653"/>
                    </a:cubicBezTo>
                    <a:cubicBezTo>
                      <a:pt x="9272" y="2033"/>
                      <a:pt x="14181" y="0"/>
                      <a:pt x="19299" y="0"/>
                    </a:cubicBezTo>
                    <a:close/>
                  </a:path>
                </a:pathLst>
              </a:custGeom>
              <a:solidFill>
                <a:srgbClr val="4E35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584803" cy="4247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77610" y="3693064"/>
              <a:ext cx="5298924" cy="883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59"/>
                </a:lnSpc>
              </a:pPr>
              <a:r>
                <a:rPr lang="en-US" sz="4517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MINIMAX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0960" y="-95250"/>
              <a:ext cx="9555566" cy="1122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84"/>
                </a:lnSpc>
              </a:pPr>
              <a:r>
                <a:rPr lang="en-US" sz="5060">
                  <a:solidFill>
                    <a:srgbClr val="4E3557"/>
                  </a:solidFill>
                  <a:latin typeface="Anton"/>
                  <a:ea typeface="Anton"/>
                  <a:cs typeface="Anton"/>
                  <a:sym typeface="Anton"/>
                </a:rPr>
                <a:t>OUTPUTS 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7485376" y="3419934"/>
              <a:ext cx="7711150" cy="1401288"/>
              <a:chOff x="0" y="0"/>
              <a:chExt cx="1951903" cy="3547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51903" cy="354704"/>
              </a:xfrm>
              <a:custGeom>
                <a:avLst/>
                <a:gdLst/>
                <a:ahLst/>
                <a:cxnLst/>
                <a:rect l="l" t="t" r="r" b="b"/>
                <a:pathLst>
                  <a:path w="1951903" h="354704">
                    <a:moveTo>
                      <a:pt x="15119" y="0"/>
                    </a:moveTo>
                    <a:lnTo>
                      <a:pt x="1936784" y="0"/>
                    </a:lnTo>
                    <a:cubicBezTo>
                      <a:pt x="1945134" y="0"/>
                      <a:pt x="1951903" y="6769"/>
                      <a:pt x="1951903" y="15119"/>
                    </a:cubicBezTo>
                    <a:lnTo>
                      <a:pt x="1951903" y="339586"/>
                    </a:lnTo>
                    <a:cubicBezTo>
                      <a:pt x="1951903" y="347935"/>
                      <a:pt x="1945134" y="354704"/>
                      <a:pt x="1936784" y="354704"/>
                    </a:cubicBezTo>
                    <a:lnTo>
                      <a:pt x="15119" y="354704"/>
                    </a:lnTo>
                    <a:cubicBezTo>
                      <a:pt x="6769" y="354704"/>
                      <a:pt x="0" y="347935"/>
                      <a:pt x="0" y="339586"/>
                    </a:cubicBezTo>
                    <a:lnTo>
                      <a:pt x="0" y="15119"/>
                    </a:lnTo>
                    <a:cubicBezTo>
                      <a:pt x="0" y="6769"/>
                      <a:pt x="6769" y="0"/>
                      <a:pt x="15119" y="0"/>
                    </a:cubicBezTo>
                    <a:close/>
                  </a:path>
                </a:pathLst>
              </a:custGeom>
              <a:solidFill>
                <a:srgbClr val="4E3557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951903" cy="411854"/>
              </a:xfrm>
              <a:prstGeom prst="rect">
                <a:avLst/>
              </a:prstGeom>
            </p:spPr>
            <p:txBody>
              <a:bodyPr lIns="52650" tIns="52650" rIns="52650" bIns="5265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485376" y="3694364"/>
              <a:ext cx="7711150" cy="907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44"/>
                </a:lnSpc>
              </a:pPr>
              <a:r>
                <a:rPr lang="en-US" sz="4682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 ALPHA-BETA PRUNING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873" y="1164854"/>
              <a:ext cx="6309967" cy="15880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940"/>
                </a:lnSpc>
              </a:pPr>
              <a:r>
                <a:rPr lang="en-US" sz="7100" dirty="0">
                  <a:solidFill>
                    <a:srgbClr val="4E3557"/>
                  </a:solidFill>
                  <a:latin typeface="Anton"/>
                  <a:ea typeface="Anton"/>
                  <a:cs typeface="Anton"/>
                  <a:sym typeface="Anton"/>
                </a:rPr>
                <a:t>At Depth = 2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80834" y="4775650"/>
            <a:ext cx="4319520" cy="4482650"/>
          </a:xfrm>
          <a:custGeom>
            <a:avLst/>
            <a:gdLst/>
            <a:ahLst/>
            <a:cxnLst/>
            <a:rect l="l" t="t" r="r" b="b"/>
            <a:pathLst>
              <a:path w="4319520" h="4482650">
                <a:moveTo>
                  <a:pt x="0" y="0"/>
                </a:moveTo>
                <a:lnTo>
                  <a:pt x="4319520" y="0"/>
                </a:lnTo>
                <a:lnTo>
                  <a:pt x="4319520" y="4482650"/>
                </a:lnTo>
                <a:lnTo>
                  <a:pt x="0" y="4482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9816"/>
            </a:stretch>
          </a:blipFill>
        </p:spPr>
      </p:sp>
      <p:pic>
        <p:nvPicPr>
          <p:cNvPr id="15" name="Picture 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13143204" y="5198999"/>
            <a:ext cx="3525901" cy="3525901"/>
          </a:xfrm>
          <a:prstGeom prst="rect">
            <a:avLst/>
          </a:prstGeom>
        </p:spPr>
      </p:pic>
      <p:sp>
        <p:nvSpPr>
          <p:cNvPr id="16" name="Freeform 16"/>
          <p:cNvSpPr/>
          <p:nvPr/>
        </p:nvSpPr>
        <p:spPr>
          <a:xfrm>
            <a:off x="7327731" y="4775650"/>
            <a:ext cx="4407747" cy="4482650"/>
          </a:xfrm>
          <a:custGeom>
            <a:avLst/>
            <a:gdLst/>
            <a:ahLst/>
            <a:cxnLst/>
            <a:rect l="l" t="t" r="r" b="b"/>
            <a:pathLst>
              <a:path w="4407747" h="4482650">
                <a:moveTo>
                  <a:pt x="0" y="0"/>
                </a:moveTo>
                <a:lnTo>
                  <a:pt x="4407747" y="0"/>
                </a:lnTo>
                <a:lnTo>
                  <a:pt x="4407747" y="4482650"/>
                </a:lnTo>
                <a:lnTo>
                  <a:pt x="0" y="4482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3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06529" y="4728555"/>
            <a:ext cx="4105807" cy="4529745"/>
          </a:xfrm>
          <a:custGeom>
            <a:avLst/>
            <a:gdLst/>
            <a:ahLst/>
            <a:cxnLst/>
            <a:rect l="l" t="t" r="r" b="b"/>
            <a:pathLst>
              <a:path w="4105807" h="4529745">
                <a:moveTo>
                  <a:pt x="0" y="0"/>
                </a:moveTo>
                <a:lnTo>
                  <a:pt x="4105807" y="0"/>
                </a:lnTo>
                <a:lnTo>
                  <a:pt x="4105807" y="4529745"/>
                </a:lnTo>
                <a:lnTo>
                  <a:pt x="0" y="452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4" name="Picture 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13658456" y="5100091"/>
            <a:ext cx="3600844" cy="3600844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1735397" y="4707057"/>
            <a:ext cx="4289342" cy="4551243"/>
          </a:xfrm>
          <a:custGeom>
            <a:avLst/>
            <a:gdLst/>
            <a:ahLst/>
            <a:cxnLst/>
            <a:rect l="l" t="t" r="r" b="b"/>
            <a:pathLst>
              <a:path w="4289342" h="4551243">
                <a:moveTo>
                  <a:pt x="0" y="0"/>
                </a:moveTo>
                <a:lnTo>
                  <a:pt x="4289342" y="0"/>
                </a:lnTo>
                <a:lnTo>
                  <a:pt x="4289342" y="4551243"/>
                </a:lnTo>
                <a:lnTo>
                  <a:pt x="0" y="4551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72467" y="604845"/>
            <a:ext cx="11397394" cy="3687355"/>
            <a:chOff x="0" y="-95250"/>
            <a:chExt cx="15196526" cy="491647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3419934"/>
              <a:ext cx="6040866" cy="1401288"/>
              <a:chOff x="0" y="0"/>
              <a:chExt cx="1584803" cy="3676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584803" cy="367624"/>
              </a:xfrm>
              <a:custGeom>
                <a:avLst/>
                <a:gdLst/>
                <a:ahLst/>
                <a:cxnLst/>
                <a:rect l="l" t="t" r="r" b="b"/>
                <a:pathLst>
                  <a:path w="1584803" h="367624">
                    <a:moveTo>
                      <a:pt x="19299" y="0"/>
                    </a:moveTo>
                    <a:lnTo>
                      <a:pt x="1565504" y="0"/>
                    </a:lnTo>
                    <a:cubicBezTo>
                      <a:pt x="1576162" y="0"/>
                      <a:pt x="1584803" y="8641"/>
                      <a:pt x="1584803" y="19299"/>
                    </a:cubicBezTo>
                    <a:lnTo>
                      <a:pt x="1584803" y="348325"/>
                    </a:lnTo>
                    <a:cubicBezTo>
                      <a:pt x="1584803" y="353443"/>
                      <a:pt x="1582769" y="358352"/>
                      <a:pt x="1579150" y="361971"/>
                    </a:cubicBezTo>
                    <a:cubicBezTo>
                      <a:pt x="1575531" y="365590"/>
                      <a:pt x="1570622" y="367624"/>
                      <a:pt x="1565504" y="367624"/>
                    </a:cubicBezTo>
                    <a:lnTo>
                      <a:pt x="19299" y="367624"/>
                    </a:lnTo>
                    <a:cubicBezTo>
                      <a:pt x="8641" y="367624"/>
                      <a:pt x="0" y="358983"/>
                      <a:pt x="0" y="348325"/>
                    </a:cubicBezTo>
                    <a:lnTo>
                      <a:pt x="0" y="19299"/>
                    </a:lnTo>
                    <a:cubicBezTo>
                      <a:pt x="0" y="14181"/>
                      <a:pt x="2033" y="9272"/>
                      <a:pt x="5653" y="5653"/>
                    </a:cubicBezTo>
                    <a:cubicBezTo>
                      <a:pt x="9272" y="2033"/>
                      <a:pt x="14181" y="0"/>
                      <a:pt x="19299" y="0"/>
                    </a:cubicBezTo>
                    <a:close/>
                  </a:path>
                </a:pathLst>
              </a:custGeom>
              <a:solidFill>
                <a:srgbClr val="4E3557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57150"/>
                <a:ext cx="1584803" cy="4247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77610" y="3693064"/>
              <a:ext cx="5298924" cy="883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59"/>
                </a:lnSpc>
              </a:pPr>
              <a:r>
                <a:rPr lang="en-US" sz="4517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MINIMAX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0960" y="-95250"/>
              <a:ext cx="9555566" cy="1122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84"/>
                </a:lnSpc>
              </a:pPr>
              <a:r>
                <a:rPr lang="en-US" sz="5060">
                  <a:solidFill>
                    <a:srgbClr val="4E3557"/>
                  </a:solidFill>
                  <a:latin typeface="Anton"/>
                  <a:ea typeface="Anton"/>
                  <a:cs typeface="Anton"/>
                  <a:sym typeface="Anton"/>
                </a:rPr>
                <a:t>OUTPUTS 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485376" y="3419934"/>
              <a:ext cx="7711150" cy="1401288"/>
              <a:chOff x="0" y="0"/>
              <a:chExt cx="1951903" cy="35470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51903" cy="354704"/>
              </a:xfrm>
              <a:custGeom>
                <a:avLst/>
                <a:gdLst/>
                <a:ahLst/>
                <a:cxnLst/>
                <a:rect l="l" t="t" r="r" b="b"/>
                <a:pathLst>
                  <a:path w="1951903" h="354704">
                    <a:moveTo>
                      <a:pt x="15119" y="0"/>
                    </a:moveTo>
                    <a:lnTo>
                      <a:pt x="1936784" y="0"/>
                    </a:lnTo>
                    <a:cubicBezTo>
                      <a:pt x="1945134" y="0"/>
                      <a:pt x="1951903" y="6769"/>
                      <a:pt x="1951903" y="15119"/>
                    </a:cubicBezTo>
                    <a:lnTo>
                      <a:pt x="1951903" y="339586"/>
                    </a:lnTo>
                    <a:cubicBezTo>
                      <a:pt x="1951903" y="347935"/>
                      <a:pt x="1945134" y="354704"/>
                      <a:pt x="1936784" y="354704"/>
                    </a:cubicBezTo>
                    <a:lnTo>
                      <a:pt x="15119" y="354704"/>
                    </a:lnTo>
                    <a:cubicBezTo>
                      <a:pt x="6769" y="354704"/>
                      <a:pt x="0" y="347935"/>
                      <a:pt x="0" y="339586"/>
                    </a:cubicBezTo>
                    <a:lnTo>
                      <a:pt x="0" y="15119"/>
                    </a:lnTo>
                    <a:cubicBezTo>
                      <a:pt x="0" y="6769"/>
                      <a:pt x="6769" y="0"/>
                      <a:pt x="15119" y="0"/>
                    </a:cubicBezTo>
                    <a:close/>
                  </a:path>
                </a:pathLst>
              </a:custGeom>
              <a:solidFill>
                <a:srgbClr val="4E3557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1951903" cy="411854"/>
              </a:xfrm>
              <a:prstGeom prst="rect">
                <a:avLst/>
              </a:prstGeom>
            </p:spPr>
            <p:txBody>
              <a:bodyPr lIns="52650" tIns="52650" rIns="52650" bIns="5265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7485376" y="3694364"/>
              <a:ext cx="7711150" cy="907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44"/>
                </a:lnSpc>
              </a:pPr>
              <a:r>
                <a:rPr lang="en-US" sz="4682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 ALPHA-BETA PRUNING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8873" y="1164854"/>
              <a:ext cx="6040866" cy="15880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940"/>
                </a:lnSpc>
              </a:pPr>
              <a:r>
                <a:rPr lang="en-US" sz="7100" dirty="0">
                  <a:solidFill>
                    <a:srgbClr val="4E3557"/>
                  </a:solidFill>
                  <a:latin typeface="Anton"/>
                  <a:ea typeface="Anton"/>
                  <a:cs typeface="Anton"/>
                  <a:sym typeface="Anton"/>
                </a:rPr>
                <a:t>At Depth = 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88" b="-11888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49685"/>
              </p:ext>
            </p:extLst>
          </p:nvPr>
        </p:nvGraphicFramePr>
        <p:xfrm>
          <a:off x="2841455" y="5555558"/>
          <a:ext cx="12605090" cy="3937649"/>
        </p:xfrm>
        <a:graphic>
          <a:graphicData uri="http://schemas.openxmlformats.org/drawingml/2006/table">
            <a:tbl>
              <a:tblPr/>
              <a:tblGrid>
                <a:gridCol w="2389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3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2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74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ALGORITHM USED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DEPTH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MOVES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TIME TAKEN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95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MINIMAX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9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ALPHA-BETA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-197197" y="560590"/>
            <a:ext cx="6969477" cy="84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9"/>
              </a:lnSpc>
            </a:pPr>
            <a:r>
              <a:rPr lang="en-US" sz="4921">
                <a:solidFill>
                  <a:srgbClr val="4E3557"/>
                </a:solidFill>
                <a:latin typeface="Anton"/>
                <a:ea typeface="Anton"/>
                <a:cs typeface="Anton"/>
                <a:sym typeface="Anton"/>
              </a:rPr>
              <a:t>Evaluation Function: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64369" y="1547626"/>
            <a:ext cx="17423631" cy="3076949"/>
            <a:chOff x="0" y="0"/>
            <a:chExt cx="23231508" cy="4102598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23231508" cy="1155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2"/>
                </a:lnSpc>
                <a:spcBef>
                  <a:spcPct val="0"/>
                </a:spcBef>
              </a:pPr>
              <a:r>
                <a:rPr lang="en-US" sz="2537" b="1">
                  <a:solidFill>
                    <a:srgbClr val="4E355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Material and Positional Evaluation:</a:t>
              </a:r>
              <a:r>
                <a:rPr lang="en-US" sz="2537">
                  <a:solidFill>
                    <a:srgbClr val="4E355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Assigns predefined values to pieces and adds positional bonuses based on their placement using piece-square tables.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449743"/>
              <a:ext cx="20883945" cy="1155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2"/>
                </a:lnSpc>
                <a:spcBef>
                  <a:spcPct val="0"/>
                </a:spcBef>
              </a:pPr>
              <a:r>
                <a:rPr lang="en-US" sz="2537" b="1">
                  <a:solidFill>
                    <a:srgbClr val="4E355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Strategic Bonuses:</a:t>
              </a:r>
              <a:r>
                <a:rPr lang="en-US" sz="2537">
                  <a:solidFill>
                    <a:srgbClr val="4E355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Includes bonuses for having a bishop pair, rooks on open files, and greater mobility (more legal moves).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947111"/>
              <a:ext cx="22524984" cy="1155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2"/>
                </a:lnSpc>
                <a:spcBef>
                  <a:spcPct val="0"/>
                </a:spcBef>
              </a:pPr>
              <a:r>
                <a:rPr lang="en-US" sz="2537" b="1">
                  <a:solidFill>
                    <a:srgbClr val="4E355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Game Outcome:</a:t>
              </a:r>
              <a:r>
                <a:rPr lang="en-US" sz="2537">
                  <a:solidFill>
                    <a:srgbClr val="4E355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Returns high positive/negative scores for checkmate, 0 for stalemate, and evaluates board favorability for white or black based on the above factors.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1447800" y="4726356"/>
            <a:ext cx="6708233" cy="829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9"/>
              </a:lnSpc>
            </a:pPr>
            <a:r>
              <a:rPr lang="en-US" sz="4921" dirty="0">
                <a:solidFill>
                  <a:srgbClr val="4E3557"/>
                </a:solidFill>
                <a:latin typeface="Anton"/>
                <a:ea typeface="Anton"/>
                <a:cs typeface="Anton"/>
                <a:sym typeface="Anton"/>
              </a:rPr>
              <a:t>RESULTS: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260434" y="7035249"/>
            <a:ext cx="101861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5260434" y="8659009"/>
            <a:ext cx="101861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739436" y="630873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39436" y="7111449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39436" y="791091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9436" y="876378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33909" y="6283409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36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33909" y="714002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79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33909" y="7907169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36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33909" y="876378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76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06937" y="631198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7.52 secs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06937" y="714002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159.16 secs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06937" y="7939489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4.42 secs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06937" y="8763784"/>
            <a:ext cx="57460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39.88 secs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77971" y="6467921"/>
            <a:ext cx="3895316" cy="39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6"/>
              </a:lnSpc>
            </a:pPr>
            <a:r>
              <a:rPr lang="en-US" sz="2304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1/2-1/2 (Draw)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77971" y="7241805"/>
            <a:ext cx="3895316" cy="39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6"/>
              </a:lnSpc>
            </a:pPr>
            <a:r>
              <a:rPr lang="en-US" sz="2304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1/2-1/2 (Draw)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77971" y="8015689"/>
            <a:ext cx="3895316" cy="39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6"/>
              </a:lnSpc>
            </a:pPr>
            <a:r>
              <a:rPr lang="en-US" sz="2304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1/2-1/2 (Draw)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77971" y="8789573"/>
            <a:ext cx="3895316" cy="39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6"/>
              </a:lnSpc>
            </a:pPr>
            <a:r>
              <a:rPr lang="en-US" sz="2304">
                <a:solidFill>
                  <a:srgbClr val="4E3557"/>
                </a:solidFill>
                <a:latin typeface="Canva Sans"/>
                <a:ea typeface="Canva Sans"/>
                <a:cs typeface="Canva Sans"/>
                <a:sym typeface="Canva Sans"/>
              </a:rPr>
              <a:t>1/2-1/2 (Draw)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88" b="-11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961602" y="379798"/>
            <a:ext cx="6877853" cy="1142163"/>
            <a:chOff x="0" y="0"/>
            <a:chExt cx="9170470" cy="152288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9170470" cy="1522884"/>
              <a:chOff x="0" y="0"/>
              <a:chExt cx="2371002" cy="3937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371003" cy="393738"/>
              </a:xfrm>
              <a:custGeom>
                <a:avLst/>
                <a:gdLst/>
                <a:ahLst/>
                <a:cxnLst/>
                <a:rect l="l" t="t" r="r" b="b"/>
                <a:pathLst>
                  <a:path w="2371003" h="393738">
                    <a:moveTo>
                      <a:pt x="12900" y="0"/>
                    </a:moveTo>
                    <a:lnTo>
                      <a:pt x="2358103" y="0"/>
                    </a:lnTo>
                    <a:cubicBezTo>
                      <a:pt x="2365227" y="0"/>
                      <a:pt x="2371003" y="5775"/>
                      <a:pt x="2371003" y="12900"/>
                    </a:cubicBezTo>
                    <a:lnTo>
                      <a:pt x="2371003" y="380838"/>
                    </a:lnTo>
                    <a:cubicBezTo>
                      <a:pt x="2371003" y="387963"/>
                      <a:pt x="2365227" y="393738"/>
                      <a:pt x="2358103" y="393738"/>
                    </a:cubicBezTo>
                    <a:lnTo>
                      <a:pt x="12900" y="393738"/>
                    </a:lnTo>
                    <a:cubicBezTo>
                      <a:pt x="5775" y="393738"/>
                      <a:pt x="0" y="387963"/>
                      <a:pt x="0" y="380838"/>
                    </a:cubicBezTo>
                    <a:lnTo>
                      <a:pt x="0" y="12900"/>
                    </a:lnTo>
                    <a:cubicBezTo>
                      <a:pt x="0" y="5775"/>
                      <a:pt x="5775" y="0"/>
                      <a:pt x="12900" y="0"/>
                    </a:cubicBezTo>
                    <a:close/>
                  </a:path>
                </a:pathLst>
              </a:custGeom>
              <a:solidFill>
                <a:srgbClr val="4E35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2371002" cy="4508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36717"/>
              <a:ext cx="9170470" cy="887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4"/>
                </a:lnSpc>
              </a:pPr>
              <a:r>
                <a:rPr lang="en-US" sz="4584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OBERVATIONS AND REASONING 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05624" y="1750852"/>
            <a:ext cx="15676752" cy="128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3"/>
              </a:lnSpc>
              <a:spcBef>
                <a:spcPct val="0"/>
              </a:spcBef>
            </a:pPr>
            <a:r>
              <a:rPr lang="en-US" sz="255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Draw Outcome (1/2–1/2):</a:t>
            </a:r>
          </a:p>
          <a:p>
            <a:pPr algn="l">
              <a:lnSpc>
                <a:spcPts val="3444"/>
              </a:lnSpc>
              <a:spcBef>
                <a:spcPct val="0"/>
              </a:spcBef>
            </a:pPr>
            <a:r>
              <a:rPr lang="en-US" sz="246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→ The evaluation uses material + positional heuristics but doesn't aggressively push for checkmate. So, if no clear advantage is found, the game tends toward equilibrium (draw)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5624" y="3303907"/>
            <a:ext cx="16174362" cy="214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3"/>
              </a:lnSpc>
              <a:spcBef>
                <a:spcPct val="0"/>
              </a:spcBef>
            </a:pPr>
            <a:r>
              <a:rPr lang="en-US" sz="255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Move Count</a:t>
            </a:r>
          </a:p>
          <a:p>
            <a:pPr algn="l">
              <a:lnSpc>
                <a:spcPts val="3443"/>
              </a:lnSpc>
              <a:spcBef>
                <a:spcPct val="0"/>
              </a:spcBef>
            </a:pPr>
            <a:r>
              <a:rPr lang="en-US" sz="245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→ Without pruning, Minimax explores all branches, including many suboptimal or equivalent lines, leading to non-optimal move choices that prolong the game. </a:t>
            </a:r>
          </a:p>
          <a:p>
            <a:pPr algn="l">
              <a:lnSpc>
                <a:spcPts val="3443"/>
              </a:lnSpc>
              <a:spcBef>
                <a:spcPct val="0"/>
              </a:spcBef>
            </a:pPr>
            <a:r>
              <a:rPr lang="en-US" sz="245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→ In contrast, Alpha-Beta prunes irrelevant paths, focusing on stronger continuations, yielding the same result in fewer, more efficient moves.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5624" y="5714213"/>
            <a:ext cx="15901790" cy="128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3"/>
              </a:lnSpc>
              <a:spcBef>
                <a:spcPct val="0"/>
              </a:spcBef>
            </a:pPr>
            <a:r>
              <a:rPr lang="en-US" sz="255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Time Efficiency</a:t>
            </a:r>
          </a:p>
          <a:p>
            <a:pPr algn="l">
              <a:lnSpc>
                <a:spcPts val="3444"/>
              </a:lnSpc>
              <a:spcBef>
                <a:spcPct val="0"/>
              </a:spcBef>
            </a:pPr>
            <a:r>
              <a:rPr lang="en-US" sz="246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→ Alpha-Beta pruning drastically reduces computation time(observed that at depth 3 , is 4 times faster than Minimax).</a:t>
            </a:r>
          </a:p>
          <a:p>
            <a:pPr algn="l">
              <a:lnSpc>
                <a:spcPts val="3444"/>
              </a:lnSpc>
              <a:spcBef>
                <a:spcPct val="0"/>
              </a:spcBef>
            </a:pPr>
            <a:r>
              <a:rPr lang="en-US" sz="246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→ This is because Alpha-Beta skips evaluating branches that won't affect the final decision.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5624" y="7357481"/>
            <a:ext cx="16094985" cy="2574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3"/>
              </a:lnSpc>
              <a:spcBef>
                <a:spcPct val="0"/>
              </a:spcBef>
            </a:pPr>
            <a:r>
              <a:rPr lang="en-US" sz="255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Increase in Time and optimality with increase in Depth</a:t>
            </a:r>
          </a:p>
          <a:p>
            <a:pPr algn="l">
              <a:lnSpc>
                <a:spcPts val="3444"/>
              </a:lnSpc>
              <a:spcBef>
                <a:spcPct val="0"/>
              </a:spcBef>
            </a:pPr>
            <a:r>
              <a:rPr lang="en-US" sz="246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→ As depth increases, the algorithm evaluates future consequences of moves more accurately, enabling better decision-making; this leads to increased optimality since the agent avoids short-term gains that result in long-term losses.</a:t>
            </a:r>
          </a:p>
          <a:p>
            <a:pPr algn="l">
              <a:lnSpc>
                <a:spcPts val="3444"/>
              </a:lnSpc>
              <a:spcBef>
                <a:spcPct val="0"/>
              </a:spcBef>
            </a:pPr>
            <a:r>
              <a:rPr lang="en-US" sz="246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→ This comes at the cost of increased computation time due to the exponential growth of the game tree.</a:t>
            </a:r>
          </a:p>
          <a:p>
            <a:pPr algn="l">
              <a:lnSpc>
                <a:spcPts val="3444"/>
              </a:lnSpc>
              <a:spcBef>
                <a:spcPct val="0"/>
              </a:spcBef>
            </a:pPr>
            <a:endParaRPr lang="en-US" sz="246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368</Words>
  <Application>Microsoft Office PowerPoint</Application>
  <PresentationFormat>Custom</PresentationFormat>
  <Paragraphs>58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Alice Bold</vt:lpstr>
      <vt:lpstr>Archivo Black</vt:lpstr>
      <vt:lpstr>Arial</vt:lpstr>
      <vt:lpstr>Calibri</vt:lpstr>
      <vt:lpstr>Canva Sans Bold</vt:lpstr>
      <vt:lpstr>Canva Sans</vt:lpstr>
      <vt:lpstr>Anton</vt:lpstr>
      <vt:lpstr>Glacial Indifference</vt:lpstr>
      <vt:lpstr>Glacial Indifference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Purple Minimalist Thesis Defense Presentation</dc:title>
  <cp:lastModifiedBy>SAI PREETHIKA</cp:lastModifiedBy>
  <cp:revision>4</cp:revision>
  <dcterms:created xsi:type="dcterms:W3CDTF">2006-08-16T00:00:00Z</dcterms:created>
  <dcterms:modified xsi:type="dcterms:W3CDTF">2025-04-30T16:17:09Z</dcterms:modified>
  <dc:identifier>DAGmGPv4NYk</dc:identifier>
</cp:coreProperties>
</file>